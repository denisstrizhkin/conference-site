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4B77"/>
    <a:srgbClr val="436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8"/>
  </p:normalViewPr>
  <p:slideViewPr>
    <p:cSldViewPr snapToGrid="0">
      <p:cViewPr varScale="1">
        <p:scale>
          <a:sx n="120" d="100"/>
          <a:sy n="120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7A602-67F5-0084-9C76-69A792FEB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A8423-A5B3-FC5D-3949-8C6E860BD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5BDA2-2C01-9F2B-3CA6-9DAE80A2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0142E-76B3-E192-E263-B93E4135D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871C0-458F-D426-CFC3-512AA98F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12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69CD0-EEA7-D711-231E-D44BBF8D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3269E-1A90-490F-D35B-9CA08E52E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63314-5241-0F43-E8A6-3ADD811F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E2703-F176-5E4C-E71D-0AC84FD3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093B8-F760-C76B-3CD6-B170351D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83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C78A-C07F-8918-DA9A-214D7AF36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51DB-AF68-322E-FDB1-B59F72811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80D0-E98C-DE6E-1CA8-76FA227B2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B34E4-0F72-51C9-994D-15441EF77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1A814-8925-03B4-D638-FDB9DA63B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0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96C7-61C4-6B81-91A9-DB42F70E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D4F72-8BC6-3037-77CA-B57008522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3CB8C-C4FC-AC47-B4EE-E8EC3C56E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29FF9-8A4F-EB73-49D1-50DBE888D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71E26-6749-80B4-1F37-FF35C9CD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8D82E-296A-DAA3-FF6A-85A0D1A2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0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1202-A18E-9358-F1A1-AC2281A62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24CAA-CA02-3536-B753-B89258EEC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99A26-D41A-DCA4-BA14-A5CB99B6B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53CD87-9E88-C29A-468F-A1FC708D53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DFB9D-CD63-1D10-26E0-85D062023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5603B-E7CB-54EC-4A8F-2E4EB2DB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EFE5EF-2C83-98C1-6B82-4F07807B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F4DD4-1331-8676-08B9-5D60FA85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29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668F-7F6C-E16D-2790-FF5B6A44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384AF2-3DD3-2F4B-C2EE-55C05D9D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473B3E-8667-C281-F87B-64769996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D490A-CCC9-7BE7-1D87-00995C96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5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B12D5-DEA9-DBF6-EE46-DC6CFF75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8180E-E0B3-0FD5-8238-FDB782A61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5B961-2C20-2282-A331-C30B3B2C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11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AEB4-6401-1AFA-B2F5-A4D300C98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FAF3A-7150-689E-770F-A0DF12DB2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C6769-D4AB-0AB8-A6E5-F061D09FC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0EF6E-F243-FC31-73FD-453C25FE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FFC1F-C20B-2023-6AF8-D8D9775DD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69623-ACD1-6993-4701-21BE9E87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4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707F7-60B3-3295-FF0D-33036E103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9B2788-5BAE-7002-DF6C-7E75446FB6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3B0C4-ACB6-E7DF-B5CE-3E26E1405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E8D8D-F29C-B861-E100-EA4175903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BD816-8B8D-2181-038D-6508C6184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B8165-1D0C-92B5-B87D-33138AB2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2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5F9F-9F8D-B8D4-D440-F2BD8C08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381B9-3EDC-0DFE-CA6A-4882ED526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6BE38-C367-7AAD-DDCD-A568DBF8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D5CBD-32EC-2481-B3BD-54237B707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A3DCD-F5B3-72FB-FED8-93D3D214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19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96EBD3-F270-A695-1A93-E7CCA1B58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3013A-34CC-41EE-6C3D-2C3010204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46CA3-894C-6F72-FF14-14CE56BCF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33636-7B6E-79B5-40FD-F3728906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DB546-B7BE-5FA4-8C17-9E0AF973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68D00-9110-BC7B-3F6E-89938C41C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1B156-7F98-0E3B-80DC-96E52C19A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1636F-13C6-D6D7-E751-57F77E142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B3BFB-69A8-524A-9D12-9DD3F796B4A5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C9158-2942-6F3D-F9C8-3BC24A239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C3876-7C99-8F31-44B3-5563BAA14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F31A0-6F22-3647-BECB-EB7CB655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53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BA48B7-D453-A3C4-3EC9-BBFD92DDA62E}"/>
              </a:ext>
            </a:extLst>
          </p:cNvPr>
          <p:cNvSpPr/>
          <p:nvPr/>
        </p:nvSpPr>
        <p:spPr>
          <a:xfrm>
            <a:off x="1050851" y="1570963"/>
            <a:ext cx="10090298" cy="439656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018EA4-E740-C8F9-295C-5351744DC82F}"/>
              </a:ext>
            </a:extLst>
          </p:cNvPr>
          <p:cNvSpPr/>
          <p:nvPr/>
        </p:nvSpPr>
        <p:spPr>
          <a:xfrm>
            <a:off x="1050851" y="1570961"/>
            <a:ext cx="6700284" cy="166133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1E828C-4941-55EB-5C93-27E549660FF5}"/>
              </a:ext>
            </a:extLst>
          </p:cNvPr>
          <p:cNvSpPr/>
          <p:nvPr/>
        </p:nvSpPr>
        <p:spPr>
          <a:xfrm>
            <a:off x="1050851" y="4306186"/>
            <a:ext cx="6700284" cy="166133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EBD860-1EE5-E8BA-4BAF-EF5A3E321698}"/>
              </a:ext>
            </a:extLst>
          </p:cNvPr>
          <p:cNvCxnSpPr/>
          <p:nvPr/>
        </p:nvCxnSpPr>
        <p:spPr>
          <a:xfrm>
            <a:off x="7751135" y="3232300"/>
            <a:ext cx="0" cy="107388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A4D211-5BA7-C18D-36F8-BF61E5171A7C}"/>
              </a:ext>
            </a:extLst>
          </p:cNvPr>
          <p:cNvCxnSpPr>
            <a:cxnSpLocks/>
          </p:cNvCxnSpPr>
          <p:nvPr/>
        </p:nvCxnSpPr>
        <p:spPr>
          <a:xfrm>
            <a:off x="3310270" y="1570961"/>
            <a:ext cx="0" cy="166133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2442E0-E956-0F2F-1574-B05205B3D1DC}"/>
              </a:ext>
            </a:extLst>
          </p:cNvPr>
          <p:cNvCxnSpPr>
            <a:cxnSpLocks/>
          </p:cNvCxnSpPr>
          <p:nvPr/>
        </p:nvCxnSpPr>
        <p:spPr>
          <a:xfrm>
            <a:off x="5578549" y="1570961"/>
            <a:ext cx="0" cy="166133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7C1A98-5E30-104E-37E1-4AC8BDC204FD}"/>
              </a:ext>
            </a:extLst>
          </p:cNvPr>
          <p:cNvCxnSpPr>
            <a:cxnSpLocks/>
          </p:cNvCxnSpPr>
          <p:nvPr/>
        </p:nvCxnSpPr>
        <p:spPr>
          <a:xfrm>
            <a:off x="3310270" y="4306186"/>
            <a:ext cx="0" cy="166133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5031AF-66FD-0A2B-2B7B-6C9D520DA9D7}"/>
              </a:ext>
            </a:extLst>
          </p:cNvPr>
          <p:cNvCxnSpPr>
            <a:cxnSpLocks/>
          </p:cNvCxnSpPr>
          <p:nvPr/>
        </p:nvCxnSpPr>
        <p:spPr>
          <a:xfrm>
            <a:off x="5578549" y="4306186"/>
            <a:ext cx="0" cy="166133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432C3D3-B819-FB3C-E66C-3D4624031E87}"/>
              </a:ext>
            </a:extLst>
          </p:cNvPr>
          <p:cNvSpPr txBox="1"/>
          <p:nvPr/>
        </p:nvSpPr>
        <p:spPr>
          <a:xfrm>
            <a:off x="8062917" y="2411421"/>
            <a:ext cx="27320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indent="265113">
              <a:buFont typeface="System Font Regular"/>
              <a:buChar char="🌟"/>
            </a:pPr>
            <a:r>
              <a:rPr lang="ru-RU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Постарайтесь о</a:t>
            </a:r>
            <a:r>
              <a:rPr lang="ru-RU" sz="16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формить </a:t>
            </a:r>
            <a:r>
              <a:rPr lang="ru-RU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его </a:t>
            </a:r>
            <a:r>
              <a:rPr lang="ru-RU" sz="16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ярко и привлекательно </a:t>
            </a:r>
          </a:p>
          <a:p>
            <a:pPr marL="9525" indent="265113">
              <a:buFont typeface="System Font Regular"/>
              <a:buChar char="🌟"/>
            </a:pPr>
            <a:r>
              <a:rPr lang="ru-RU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Н</a:t>
            </a:r>
            <a:r>
              <a:rPr lang="ru-RU" sz="16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е пишите “сплошной текст” </a:t>
            </a:r>
          </a:p>
          <a:p>
            <a:pPr marL="9525" indent="265113">
              <a:buFont typeface="System Font Regular"/>
              <a:buChar char="🌟"/>
            </a:pPr>
            <a:r>
              <a:rPr lang="ru-RU" sz="1600" dirty="0">
                <a:solidFill>
                  <a:schemeClr val="bg1"/>
                </a:solidFill>
                <a:latin typeface="Helvetica Neue" panose="02000503000000020004" pitchFamily="2" charset="0"/>
              </a:rPr>
              <a:t>Е</a:t>
            </a:r>
            <a:r>
              <a:rPr lang="ru-RU" sz="16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сли получится добавьте картинку по теме работы</a:t>
            </a:r>
          </a:p>
          <a:p>
            <a:pPr marL="9525" indent="265113">
              <a:buFont typeface="System Font Regular"/>
              <a:buChar char="🌟"/>
            </a:pPr>
            <a:r>
              <a:rPr lang="ru-RU" sz="16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Он должен легко читаться и содержать только самые основные сведения о работе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2DE91F-B5D2-D60E-33F2-B1E68A4DFA36}"/>
              </a:ext>
            </a:extLst>
          </p:cNvPr>
          <p:cNvSpPr txBox="1"/>
          <p:nvPr/>
        </p:nvSpPr>
        <p:spPr>
          <a:xfrm>
            <a:off x="1050851" y="476362"/>
            <a:ext cx="5126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Helvetica" pitchFamily="2" charset="0"/>
              </a:rPr>
              <a:t>Структура </a:t>
            </a:r>
            <a:r>
              <a:rPr lang="en-US" sz="3600" b="1" dirty="0">
                <a:solidFill>
                  <a:schemeClr val="bg1"/>
                </a:solidFill>
                <a:latin typeface="Helvetica" pitchFamily="2" charset="0"/>
              </a:rPr>
              <a:t>One-Pager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D114F4-7A0A-A5DA-884F-347CBCC2420C}"/>
              </a:ext>
            </a:extLst>
          </p:cNvPr>
          <p:cNvSpPr txBox="1"/>
          <p:nvPr/>
        </p:nvSpPr>
        <p:spPr>
          <a:xfrm>
            <a:off x="3502544" y="2305937"/>
            <a:ext cx="18837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Helvetica Neue" panose="02000503000000020004" pitchFamily="2" charset="0"/>
              </a:rPr>
              <a:t>Коллеги и научный руководитель</a:t>
            </a:r>
            <a:endParaRPr lang="ru-RU" sz="140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199D3C-6D47-1981-2D9E-33694575BECD}"/>
              </a:ext>
            </a:extLst>
          </p:cNvPr>
          <p:cNvSpPr/>
          <p:nvPr/>
        </p:nvSpPr>
        <p:spPr>
          <a:xfrm>
            <a:off x="3502544" y="1796821"/>
            <a:ext cx="1222733" cy="393405"/>
          </a:xfrm>
          <a:prstGeom prst="rect">
            <a:avLst/>
          </a:prstGeom>
          <a:solidFill>
            <a:srgbClr val="984B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/>
              <a:t>Команда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A44BEC-9815-86CE-167E-42E0BAF180A0}"/>
              </a:ext>
            </a:extLst>
          </p:cNvPr>
          <p:cNvSpPr txBox="1"/>
          <p:nvPr/>
        </p:nvSpPr>
        <p:spPr>
          <a:xfrm>
            <a:off x="1246669" y="2301432"/>
            <a:ext cx="18837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Helvetica Neue" panose="02000503000000020004" pitchFamily="2" charset="0"/>
              </a:rPr>
              <a:t>Название проекта</a:t>
            </a:r>
            <a:endParaRPr lang="ru-RU" sz="140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CDA482-B1A4-04B6-34A1-8E98DF757D18}"/>
              </a:ext>
            </a:extLst>
          </p:cNvPr>
          <p:cNvSpPr/>
          <p:nvPr/>
        </p:nvSpPr>
        <p:spPr>
          <a:xfrm>
            <a:off x="1246669" y="1796821"/>
            <a:ext cx="1294508" cy="393405"/>
          </a:xfrm>
          <a:prstGeom prst="rect">
            <a:avLst/>
          </a:prstGeom>
          <a:solidFill>
            <a:srgbClr val="984B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/>
              <a:t>Название</a:t>
            </a:r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C7AA30-9014-08E8-693E-91F1B877005D}"/>
              </a:ext>
            </a:extLst>
          </p:cNvPr>
          <p:cNvSpPr txBox="1"/>
          <p:nvPr/>
        </p:nvSpPr>
        <p:spPr>
          <a:xfrm>
            <a:off x="5770824" y="2301432"/>
            <a:ext cx="18837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Проблема/задача/</a:t>
            </a:r>
            <a:br>
              <a:rPr lang="ru-RU" sz="14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</a:br>
            <a:r>
              <a:rPr lang="ru-RU" sz="14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цель работы </a:t>
            </a:r>
            <a:br>
              <a:rPr lang="ru-RU" sz="14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</a:br>
            <a:r>
              <a:rPr lang="ru-RU" sz="14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(1 строка)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8A8C74-C7A8-C466-825D-8FBE91087560}"/>
              </a:ext>
            </a:extLst>
          </p:cNvPr>
          <p:cNvSpPr/>
          <p:nvPr/>
        </p:nvSpPr>
        <p:spPr>
          <a:xfrm>
            <a:off x="5770825" y="1792316"/>
            <a:ext cx="1299826" cy="393405"/>
          </a:xfrm>
          <a:prstGeom prst="rect">
            <a:avLst/>
          </a:prstGeom>
          <a:solidFill>
            <a:srgbClr val="984B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/>
              <a:t>Проблема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2E2DD1-230F-A1C1-46FA-105ECAB6D198}"/>
              </a:ext>
            </a:extLst>
          </p:cNvPr>
          <p:cNvSpPr txBox="1"/>
          <p:nvPr/>
        </p:nvSpPr>
        <p:spPr>
          <a:xfrm>
            <a:off x="1247558" y="5029906"/>
            <a:ext cx="18837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Описание</a:t>
            </a:r>
            <a:r>
              <a:rPr lang="en-US" sz="14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ru-RU" sz="14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модели</a:t>
            </a:r>
            <a:r>
              <a:rPr lang="en-US" sz="1400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Helvetica Neue" panose="02000503000000020004" pitchFamily="2" charset="0"/>
              </a:rPr>
              <a:t>или </a:t>
            </a:r>
            <a:r>
              <a:rPr lang="ru-RU" sz="14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эксперимента (2 строки)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A962AB-4F52-1830-3DCD-F92F6BE8283C}"/>
              </a:ext>
            </a:extLst>
          </p:cNvPr>
          <p:cNvSpPr/>
          <p:nvPr/>
        </p:nvSpPr>
        <p:spPr>
          <a:xfrm>
            <a:off x="1247559" y="4520790"/>
            <a:ext cx="1299826" cy="393405"/>
          </a:xfrm>
          <a:prstGeom prst="rect">
            <a:avLst/>
          </a:prstGeom>
          <a:solidFill>
            <a:srgbClr val="984B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/>
              <a:t>Описание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93136D-85FB-C479-490F-E8283D6EF88E}"/>
              </a:ext>
            </a:extLst>
          </p:cNvPr>
          <p:cNvSpPr txBox="1"/>
          <p:nvPr/>
        </p:nvSpPr>
        <p:spPr>
          <a:xfrm>
            <a:off x="3502544" y="5032159"/>
            <a:ext cx="18970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Научная новизна</a:t>
            </a:r>
            <a:r>
              <a:rPr lang="ru-RU" sz="1400" dirty="0">
                <a:solidFill>
                  <a:schemeClr val="bg1"/>
                </a:solidFill>
                <a:latin typeface="Helvetica Neue" panose="02000503000000020004" pitchFamily="2" charset="0"/>
              </a:rPr>
              <a:t>, </a:t>
            </a:r>
            <a:r>
              <a:rPr lang="ru-RU" sz="14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преимущество подхода (1 строка)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04864E-197B-A2B9-7144-BC37C256670B}"/>
              </a:ext>
            </a:extLst>
          </p:cNvPr>
          <p:cNvSpPr/>
          <p:nvPr/>
        </p:nvSpPr>
        <p:spPr>
          <a:xfrm>
            <a:off x="3502545" y="4523043"/>
            <a:ext cx="1299826" cy="393405"/>
          </a:xfrm>
          <a:prstGeom prst="rect">
            <a:avLst/>
          </a:prstGeom>
          <a:solidFill>
            <a:srgbClr val="984B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/>
              <a:t>Новизна</a:t>
            </a:r>
            <a:endParaRPr 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4FADA3-6A8E-6495-C166-00FA88CBB72E}"/>
              </a:ext>
            </a:extLst>
          </p:cNvPr>
          <p:cNvSpPr txBox="1"/>
          <p:nvPr/>
        </p:nvSpPr>
        <p:spPr>
          <a:xfrm>
            <a:off x="5757537" y="5025777"/>
            <a:ext cx="18970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Перспективы, как результаты помогут Вам и коллегам</a:t>
            </a:r>
            <a:endParaRPr lang="ru-RU" sz="140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597DC3-A259-63C7-9458-FEA8FBDFEE52}"/>
              </a:ext>
            </a:extLst>
          </p:cNvPr>
          <p:cNvSpPr/>
          <p:nvPr/>
        </p:nvSpPr>
        <p:spPr>
          <a:xfrm>
            <a:off x="5757537" y="4516661"/>
            <a:ext cx="1717143" cy="393405"/>
          </a:xfrm>
          <a:prstGeom prst="rect">
            <a:avLst/>
          </a:prstGeom>
          <a:solidFill>
            <a:srgbClr val="984B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/>
              <a:t>Перспектива</a:t>
            </a:r>
            <a:endParaRPr lang="en-US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564E20-258C-4657-95F7-4312D521BD03}"/>
              </a:ext>
            </a:extLst>
          </p:cNvPr>
          <p:cNvSpPr/>
          <p:nvPr/>
        </p:nvSpPr>
        <p:spPr>
          <a:xfrm>
            <a:off x="1246670" y="3572540"/>
            <a:ext cx="1443368" cy="393405"/>
          </a:xfrm>
          <a:prstGeom prst="rect">
            <a:avLst/>
          </a:prstGeom>
          <a:solidFill>
            <a:srgbClr val="984B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/>
              <a:t>Результаты</a:t>
            </a:r>
            <a:endParaRPr 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261C9D-C565-5120-EFC6-CBD38AE3EB87}"/>
              </a:ext>
            </a:extLst>
          </p:cNvPr>
          <p:cNvSpPr txBox="1"/>
          <p:nvPr/>
        </p:nvSpPr>
        <p:spPr>
          <a:xfrm>
            <a:off x="2885857" y="3617295"/>
            <a:ext cx="4418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Результаты/основной вывод (тезисно, 2-3 строки)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922BCF-B5B9-1EC6-31FB-31246165B6FA}"/>
              </a:ext>
            </a:extLst>
          </p:cNvPr>
          <p:cNvSpPr/>
          <p:nvPr/>
        </p:nvSpPr>
        <p:spPr>
          <a:xfrm>
            <a:off x="8097360" y="1792316"/>
            <a:ext cx="2697563" cy="393405"/>
          </a:xfrm>
          <a:prstGeom prst="rect">
            <a:avLst/>
          </a:prstGeom>
          <a:solidFill>
            <a:srgbClr val="984B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/>
              <a:t>Общие рекомендации</a:t>
            </a:r>
            <a:endParaRPr lang="en-US" b="1" dirty="0"/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64B5771A-6250-0871-3129-6BEF291C2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3350" y="2216150"/>
            <a:ext cx="1765300" cy="24257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A664B702-2DED-6F78-9142-DC3968CAE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8485" y="274049"/>
            <a:ext cx="1765300" cy="971243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9C755A6C-E33B-4776-F674-7C2986A53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7516" y="432108"/>
            <a:ext cx="589247" cy="80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15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95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Helvetica Neue</vt:lpstr>
      <vt:lpstr>System Font 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Kirill Karasev</dc:creator>
  <cp:lastModifiedBy>Kirill Karasev</cp:lastModifiedBy>
  <cp:revision>1</cp:revision>
  <dcterms:created xsi:type="dcterms:W3CDTF">2026-04-25T21:07:51Z</dcterms:created>
  <dcterms:modified xsi:type="dcterms:W3CDTF">2026-04-25T22:45:50Z</dcterms:modified>
</cp:coreProperties>
</file>