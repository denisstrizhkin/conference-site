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aton" initials="P" lastIdx="9" clrIdx="0">
    <p:extLst>
      <p:ext uri="{19B8F6BF-5375-455C-9EA6-DF929625EA0E}">
        <p15:presenceInfo xmlns:p15="http://schemas.microsoft.com/office/powerpoint/2012/main" userId="Platon" providerId="None"/>
      </p:ext>
    </p:extLst>
  </p:cmAuthor>
  <p:cmAuthor id="2" name="Kirill Karasev" initials="KK" lastIdx="1" clrIdx="1">
    <p:extLst>
      <p:ext uri="{19B8F6BF-5375-455C-9EA6-DF929625EA0E}">
        <p15:presenceInfo xmlns:p15="http://schemas.microsoft.com/office/powerpoint/2012/main" userId="Kirill Karase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B44B"/>
    <a:srgbClr val="539E38"/>
    <a:srgbClr val="B7D1D2"/>
    <a:srgbClr val="AAC4F5"/>
    <a:srgbClr val="8CA9FF"/>
    <a:srgbClr val="A1BC98"/>
    <a:srgbClr val="F3E9DF"/>
    <a:srgbClr val="E8D1C5"/>
    <a:srgbClr val="BDE8F5"/>
    <a:srgbClr val="579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 autoAdjust="0"/>
    <p:restoredTop sz="94723"/>
  </p:normalViewPr>
  <p:slideViewPr>
    <p:cSldViewPr snapToGrid="0">
      <p:cViewPr varScale="1">
        <p:scale>
          <a:sx n="109" d="100"/>
          <a:sy n="109" d="100"/>
        </p:scale>
        <p:origin x="216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EFC5B-CE07-814D-AF02-62D776E7509B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966FA-BCF6-0547-B088-FF46B70E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7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3FF9-6593-3364-B457-4DDC4A48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0EEB7-DD7F-ADB4-04E1-7F278F134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AF27-FFDC-8634-9CAF-76A8AAD6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D82F5-1B8F-C23D-9BD8-21624DD2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DB9DB-9E0B-57A7-54BC-6FE56D6A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9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5CB5-91B8-13E9-7D5E-80C3D7D0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9116E-8267-C5D4-0460-53373C664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2B26C-8885-B7D9-E0D8-FA56E1B86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2DA15-B333-6E98-ED6A-6885B9FB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848D-C661-D922-30BD-94C8B5DA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72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D077-3716-F8A8-0CFE-A0871940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3F684-ACD3-B7DB-E45E-8EF274314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787D0-6D87-A548-9E77-AEDFB648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851D6-68B5-DADF-F8A1-C2DFAF46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5EBA9-708B-A326-AA10-F67C7B5B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7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CE0B-51EA-AFCF-3753-986C670A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489C3-AE36-B44F-E345-9FEE487E5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D36F9-2B41-D71A-679D-C8F19482A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393F8-C9A6-947B-3972-2DBF6DE0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DE743-62CC-1951-A7B2-9A7EF9E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602AF-0683-EF89-F880-198BA4EA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1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F4C3B-B6FF-AD4D-F547-BE83BA746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C95F9-C523-2DA9-A098-AF979FD0E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B933E-AB0E-97EE-B7D0-1F47A1F91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A6AD1-C70C-2E44-8A93-F9BC07E18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C81B3A-A9AB-8A5E-A644-EC6BA056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15E0D-D42B-9639-319A-75C94B5A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1DCBEA-A732-5A92-13B2-EFAB3F3C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2B5A18-F014-D46E-83A8-9A096A83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0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1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CAA5-FE2D-1874-6875-26C29C41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DA5A3-EA08-C99C-77D6-83288F13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9F7A3-668F-BE00-23BF-53ED67F7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654-9FA5-DC7A-1963-0356AF83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8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7092D-B7ED-D852-1655-96C32F72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9C794-3080-3F0C-7721-E0AA4BF8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9BF77-BDC7-D09B-885A-DAC216BE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5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60A1-5CD6-1E27-69FD-926D7BEA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0E09-F788-7788-654B-1E22C0051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22894-302B-92D0-C2F8-A3BB54B7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0A7B5-D38B-3437-E512-9034DB47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8107C-1370-9F0A-BAAB-D483657C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86F59-07FE-BD7C-A1E3-19E6511D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2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9542-1A64-259E-5434-4D080EC6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F9673D-9F07-DE30-FCFE-275B9ECB5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7C736-3A87-37D5-2959-1D16B447E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9DD04-01F9-1869-49EC-9BB982FB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33EB7-1EAF-585C-CFA5-2921ECB9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1B5B6-37B8-0E95-DA35-9E5765FE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BFC0-9AF0-6770-839D-23060D87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EBE49-DA2E-8F4D-AE90-CB76D6F2D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3E24B-D224-A865-3747-4952C76A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97402-7E47-CD65-CBD0-E63CA7CB5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18C9F-5D23-79B1-CC49-FDE3004F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4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CF706-BBE7-31CF-89B9-ABED86A8B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65723-3F17-B9DB-0433-E495223BB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F81E6-20E1-C55E-91EE-866B5199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B146D-B93D-4326-F740-A9955F90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1B92D-33E5-5E24-CF69-2449F6AB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8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956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7DAEC-C94E-CCD2-979F-2083E29CA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ABA25-5393-A16B-008E-507B1EFFA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03E3C-EECA-5B74-4D5E-E587D90A1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A5B91-4F4E-C042-8894-F60298DC120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A9207-3DF2-700F-298F-E47B2AD2D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72B5E-1F15-09E9-1703-A763C275C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C0594-32A9-CB46-872A-F629BED0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9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18BCF8-E0A1-5ED1-B72F-9D50BCFA86F9}"/>
              </a:ext>
            </a:extLst>
          </p:cNvPr>
          <p:cNvSpPr/>
          <p:nvPr/>
        </p:nvSpPr>
        <p:spPr>
          <a:xfrm>
            <a:off x="446417" y="114943"/>
            <a:ext cx="11299164" cy="610043"/>
          </a:xfrm>
          <a:prstGeom prst="roundRect">
            <a:avLst>
              <a:gd name="adj" fmla="val 651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3AD09-EC48-B26A-D123-66B62E6DE927}"/>
              </a:ext>
            </a:extLst>
          </p:cNvPr>
          <p:cNvSpPr/>
          <p:nvPr/>
        </p:nvSpPr>
        <p:spPr>
          <a:xfrm>
            <a:off x="446418" y="4715093"/>
            <a:ext cx="6283989" cy="2031148"/>
          </a:xfrm>
          <a:prstGeom prst="roundRect">
            <a:avLst>
              <a:gd name="adj" fmla="val 895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8BE225-0731-637E-79C2-3F82A57BB6F1}"/>
              </a:ext>
            </a:extLst>
          </p:cNvPr>
          <p:cNvSpPr/>
          <p:nvPr/>
        </p:nvSpPr>
        <p:spPr>
          <a:xfrm>
            <a:off x="446417" y="849580"/>
            <a:ext cx="6283990" cy="2031148"/>
          </a:xfrm>
          <a:prstGeom prst="roundRect">
            <a:avLst>
              <a:gd name="adj" fmla="val 651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6F9C2A-8821-AA2B-C4C1-7A52E0CAE48A}"/>
              </a:ext>
            </a:extLst>
          </p:cNvPr>
          <p:cNvSpPr/>
          <p:nvPr/>
        </p:nvSpPr>
        <p:spPr>
          <a:xfrm>
            <a:off x="7090439" y="2892896"/>
            <a:ext cx="4655142" cy="1643040"/>
          </a:xfrm>
          <a:prstGeom prst="roundRect">
            <a:avLst>
              <a:gd name="adj" fmla="val 425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een circuit board with a coin&#10;&#10;AI-generated content may be incorrect.">
            <a:extLst>
              <a:ext uri="{FF2B5EF4-FFF2-40B4-BE49-F238E27FC236}">
                <a16:creationId xmlns:a16="http://schemas.microsoft.com/office/drawing/2014/main" id="{13E29AD8-3B99-4963-BB1D-46C0A51C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62" t="25912" r="6911" b="17794"/>
          <a:stretch/>
        </p:blipFill>
        <p:spPr>
          <a:xfrm>
            <a:off x="949400" y="2976390"/>
            <a:ext cx="3009162" cy="16430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24C15A-4193-D2F8-BF43-3D8A7E6CC7C3}"/>
              </a:ext>
            </a:extLst>
          </p:cNvPr>
          <p:cNvSpPr txBox="1"/>
          <p:nvPr/>
        </p:nvSpPr>
        <p:spPr>
          <a:xfrm>
            <a:off x="7188566" y="2934761"/>
            <a:ext cx="2163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Команда:</a:t>
            </a: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b="1" u="sng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Карасев Кирилл</a:t>
            </a:r>
          </a:p>
          <a:p>
            <a:br>
              <a:rPr lang="ru-RU" sz="16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600" b="1" dirty="0" err="1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Стрижкин</a:t>
            </a:r>
            <a:r>
              <a:rPr lang="ru-RU" sz="1600" b="1" dirty="0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Денис</a:t>
            </a:r>
            <a:br>
              <a:rPr lang="ru-RU" sz="1600" b="1" dirty="0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600" b="1" dirty="0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Лаздин Илья </a:t>
            </a:r>
            <a:endParaRPr lang="ru-RU" sz="1600" dirty="0">
              <a:solidFill>
                <a:schemeClr val="bg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5FC70-E7BD-D36F-B31E-6935C7C1DC1E}"/>
              </a:ext>
            </a:extLst>
          </p:cNvPr>
          <p:cNvSpPr txBox="1"/>
          <p:nvPr/>
        </p:nvSpPr>
        <p:spPr>
          <a:xfrm>
            <a:off x="446417" y="957213"/>
            <a:ext cx="63690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Проблема: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Анализ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воздуха и поиск газов </a:t>
            </a:r>
            <a:r>
              <a:rPr lang="ru" sz="1600" dirty="0">
                <a:solidFill>
                  <a:schemeClr val="bg1">
                    <a:lumMod val="6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(контроль загрязнения, качества среды и запахи) 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дорого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долго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а системы очень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большие</a:t>
            </a:r>
            <a:b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ru" sz="1600" b="1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Наше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Решение</a:t>
            </a:r>
            <a:r>
              <a:rPr lang="en-GB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ru-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Миниатюрный</a:t>
            </a:r>
            <a:r>
              <a:rPr lang="ru-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чувствительный чип в связке с </a:t>
            </a:r>
            <a:r>
              <a:rPr lang="ru-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нейронной сетью</a:t>
            </a:r>
            <a:r>
              <a:rPr lang="ru-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обеспечивающий </a:t>
            </a:r>
            <a:r>
              <a:rPr lang="ru-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быстрый</a:t>
            </a:r>
            <a:r>
              <a:rPr lang="ru-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</a:t>
            </a:r>
            <a:r>
              <a:rPr lang="ru-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точный</a:t>
            </a:r>
            <a:r>
              <a:rPr lang="ru-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анализ газов и запахов</a:t>
            </a:r>
            <a:endParaRPr lang="en-GB" sz="16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50353-88E8-DAE6-89A5-C74CE74830AE}"/>
              </a:ext>
            </a:extLst>
          </p:cNvPr>
          <p:cNvSpPr txBox="1"/>
          <p:nvPr/>
        </p:nvSpPr>
        <p:spPr>
          <a:xfrm>
            <a:off x="502270" y="4855993"/>
            <a:ext cx="62839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Уже: </a:t>
            </a:r>
            <a:r>
              <a:rPr lang="en-GB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TRL-4</a:t>
            </a:r>
            <a:r>
              <a:rPr lang="en-GB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| 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точность распознавания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95% 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| потребление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0.025 Вт 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| габариты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20х22х8 мм 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распознавание 4-ех газов</a:t>
            </a:r>
            <a:b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ru" sz="16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Производство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легко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масштабируемо 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</a:p>
          <a:p>
            <a:r>
              <a:rPr lang="ru-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ехнология микросистемной техники</a:t>
            </a:r>
          </a:p>
          <a:p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дешевле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 ~ </a:t>
            </a:r>
            <a:r>
              <a:rPr lang="ru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 раз</a:t>
            </a:r>
            <a:r>
              <a:rPr lang="ru" sz="16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4" name="Рисунок 2">
            <a:extLst>
              <a:ext uri="{FF2B5EF4-FFF2-40B4-BE49-F238E27FC236}">
                <a16:creationId xmlns:a16="http://schemas.microsoft.com/office/drawing/2014/main" id="{7431E9B6-AA6F-2E85-479E-E5088F44F1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" b="5096"/>
          <a:stretch/>
        </p:blipFill>
        <p:spPr>
          <a:xfrm>
            <a:off x="3958562" y="2976390"/>
            <a:ext cx="2285999" cy="16300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49B2AB-8257-5342-724D-1DD4484B0CED}"/>
              </a:ext>
            </a:extLst>
          </p:cNvPr>
          <p:cNvSpPr/>
          <p:nvPr/>
        </p:nvSpPr>
        <p:spPr>
          <a:xfrm>
            <a:off x="7090439" y="862649"/>
            <a:ext cx="4655142" cy="1851090"/>
          </a:xfrm>
          <a:prstGeom prst="roundRect">
            <a:avLst>
              <a:gd name="adj" fmla="val 425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3B328-6604-7407-F7AA-3D9B2E4B3F22}"/>
              </a:ext>
            </a:extLst>
          </p:cNvPr>
          <p:cNvSpPr txBox="1"/>
          <p:nvPr/>
        </p:nvSpPr>
        <p:spPr>
          <a:xfrm>
            <a:off x="7175501" y="850049"/>
            <a:ext cx="45228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Преимущества и перспектива:</a:t>
            </a: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Быстрая настройка системы под конкретные задачи</a:t>
            </a:r>
          </a:p>
          <a:p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Миниатюрность и энергоэффективность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AB953F5D-88F3-C3BB-2E2D-71F705890513}"/>
              </a:ext>
            </a:extLst>
          </p:cNvPr>
          <p:cNvSpPr/>
          <p:nvPr/>
        </p:nvSpPr>
        <p:spPr>
          <a:xfrm>
            <a:off x="7090439" y="4715093"/>
            <a:ext cx="4655142" cy="2031148"/>
          </a:xfrm>
          <a:prstGeom prst="roundRect">
            <a:avLst>
              <a:gd name="adj" fmla="val 425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73702-F5C0-C4C3-676B-52D4CD00C4C7}"/>
              </a:ext>
            </a:extLst>
          </p:cNvPr>
          <p:cNvSpPr txBox="1"/>
          <p:nvPr/>
        </p:nvSpPr>
        <p:spPr>
          <a:xfrm>
            <a:off x="7090439" y="4822726"/>
            <a:ext cx="45228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Основные результаты: 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Создан прототип переносного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мультигазового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анализатора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Разработана необходимое ПО (нейронная сеть и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GUI)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45252-B74B-114A-C733-0446667D3BE3}"/>
              </a:ext>
            </a:extLst>
          </p:cNvPr>
          <p:cNvSpPr txBox="1"/>
          <p:nvPr/>
        </p:nvSpPr>
        <p:spPr>
          <a:xfrm>
            <a:off x="3290257" y="255047"/>
            <a:ext cx="6880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E-nose System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система анализа газов и запахов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3BAC44-3D2C-6AE6-A97E-F67F8A95A28A}"/>
              </a:ext>
            </a:extLst>
          </p:cNvPr>
          <p:cNvSpPr txBox="1"/>
          <p:nvPr/>
        </p:nvSpPr>
        <p:spPr>
          <a:xfrm>
            <a:off x="9516137" y="2929585"/>
            <a:ext cx="2163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Руководители:</a:t>
            </a: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b="1" dirty="0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Карасев Платон</a:t>
            </a:r>
          </a:p>
          <a:p>
            <a:endParaRPr lang="ru-RU" sz="1600" b="1" dirty="0">
              <a:solidFill>
                <a:schemeClr val="bg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600" b="1" dirty="0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Кондратьева Анастасия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A51DBA-943C-2378-C12C-69E064AAD726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9418010" y="2892896"/>
            <a:ext cx="0" cy="1643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407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134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Helvetica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Газоаналитическая система  «Умный нос» (e-nose system)</dc:title>
  <dc:creator>Kirill Karasev</dc:creator>
  <cp:lastModifiedBy>Kirill Karasev</cp:lastModifiedBy>
  <cp:revision>67</cp:revision>
  <dcterms:created xsi:type="dcterms:W3CDTF">2026-01-27T11:40:48Z</dcterms:created>
  <dcterms:modified xsi:type="dcterms:W3CDTF">2026-04-24T21:01:04Z</dcterms:modified>
</cp:coreProperties>
</file>